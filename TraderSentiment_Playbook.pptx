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%</c:v>
                </c:pt>
              </c:strCache>
            </c:strRef>
          </c:tx>
          <c:spPr>
            <a:solidFill>
              <a:srgbClr val="5C33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331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4B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052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85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57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Extreme Fear</c:v>
                  </c:pt>
                  <c:pt idx="1">
                    <c:v>Fear</c:v>
                  </c:pt>
                  <c:pt idx="2">
                    <c:v>Neutral</c:v>
                  </c:pt>
                  <c:pt idx="3">
                    <c:v>Greed</c:v>
                  </c:pt>
                  <c:pt idx="4">
                    <c:v>Extreme Greed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76.2</c:v>
                </c:pt>
                <c:pt idx="1">
                  <c:v>87.3</c:v>
                </c:pt>
                <c:pt idx="2">
                  <c:v>82.4</c:v>
                </c:pt>
                <c:pt idx="3">
                  <c:v>76.9</c:v>
                </c:pt>
                <c:pt idx="4">
                  <c:v>89.2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1F0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C4A88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1F0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E6D3">
        <a:alpha val="7000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Trade Size (USD)</c:v>
                </c:pt>
              </c:strCache>
            </c:strRef>
          </c:tx>
          <c:spPr>
            <a:solidFill>
              <a:srgbClr val="5C33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331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4B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052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85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57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Extreme Fear</c:v>
                  </c:pt>
                  <c:pt idx="1">
                    <c:v>Fear</c:v>
                  </c:pt>
                  <c:pt idx="2">
                    <c:v>Neutral</c:v>
                  </c:pt>
                  <c:pt idx="3">
                    <c:v>Greed</c:v>
                  </c:pt>
                  <c:pt idx="4">
                    <c:v>Extreme Greed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5349</c:v>
                </c:pt>
                <c:pt idx="1">
                  <c:v>7816</c:v>
                </c:pt>
                <c:pt idx="2">
                  <c:v>4782</c:v>
                </c:pt>
                <c:pt idx="3">
                  <c:v>5736</c:v>
                </c:pt>
                <c:pt idx="4">
                  <c:v>3112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1F0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4A88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1F0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E6D3">
        <a:alpha val="7000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E1F0A">
              <a:alpha val="45000"/>
            </a:srgbClr>
          </a:solidFill>
          <a:ln w="12700">
            <a:solidFill>
              <a:srgbClr val="3E1F0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Trader Sentiment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Psychology Meets On-Chain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788920"/>
            <a:ext cx="2743200" cy="45720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017520"/>
            <a:ext cx="1645920" cy="1188720"/>
          </a:xfrm>
          <a:prstGeom prst="rect">
            <a:avLst/>
          </a:prstGeom>
          <a:solidFill>
            <a:srgbClr val="7B4B2A">
              <a:alpha val="70000"/>
            </a:srgbClr>
          </a:solidFill>
          <a:ln w="12700">
            <a:solidFill>
              <a:srgbClr val="F5E6D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0906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Analysed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3017520"/>
            <a:ext cx="1645920" cy="1188720"/>
          </a:xfrm>
          <a:prstGeom prst="rect">
            <a:avLst/>
          </a:prstGeom>
          <a:solidFill>
            <a:srgbClr val="7B4B2A">
              <a:alpha val="70000"/>
            </a:srgbClr>
          </a:solidFill>
          <a:ln w="12700">
            <a:solidFill>
              <a:srgbClr val="F5E6D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30906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10.25M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PnL ($)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1645920" cy="1188720"/>
          </a:xfrm>
          <a:prstGeom prst="rect">
            <a:avLst/>
          </a:prstGeom>
          <a:solidFill>
            <a:srgbClr val="7B4B2A">
              <a:alpha val="70000"/>
            </a:srgbClr>
          </a:solidFill>
          <a:ln w="12700">
            <a:solidFill>
              <a:srgbClr val="F5E6D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0906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83.2%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3017520"/>
            <a:ext cx="1645920" cy="1188720"/>
          </a:xfrm>
          <a:prstGeom prst="rect">
            <a:avLst/>
          </a:prstGeom>
          <a:solidFill>
            <a:srgbClr val="7B4B2A">
              <a:alpha val="70000"/>
            </a:srgbClr>
          </a:solidFill>
          <a:ln w="12700">
            <a:solidFill>
              <a:srgbClr val="F5E6D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30906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87.76%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Accuracy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Nandini Saxena  ·  B.Tech CSE  ·  Data Analytics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6D3">
              <a:alpha val="4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solidFill>
            <a:srgbClr val="7B4B2A"/>
          </a:solidFill>
          <a:ln w="12700">
            <a:solidFill>
              <a:srgbClr val="7B4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E1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Company is Silently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3E1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Losing Its Best Traders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114800" cy="640080"/>
          </a:xfrm>
          <a:prstGeom prst="rect">
            <a:avLst/>
          </a:prstGeom>
          <a:solidFill>
            <a:srgbClr val="7B4B2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011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traders rely on sentiment — but does it actually work?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256032" cy="256032"/>
          </a:xfrm>
          <a:prstGeom prst="ellipse">
            <a:avLst/>
          </a:prstGeom>
          <a:solidFill>
            <a:srgbClr val="7B4B2A"/>
          </a:solidFill>
          <a:ln w="12700">
            <a:solidFill>
              <a:srgbClr val="7B4B2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712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traders behave differently in Fear vs Greed?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256032" cy="256032"/>
          </a:xfrm>
          <a:prstGeom prst="ellipse">
            <a:avLst/>
          </a:prstGeom>
          <a:solidFill>
            <a:srgbClr val="7B4B2A"/>
          </a:solidFill>
          <a:ln w="12700">
            <a:solidFill>
              <a:srgbClr val="7B4B2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741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certain market conditions more profitable?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256032" cy="256032"/>
          </a:xfrm>
          <a:prstGeom prst="ellipse">
            <a:avLst/>
          </a:prstGeom>
          <a:solidFill>
            <a:srgbClr val="7B4B2A"/>
          </a:solidFill>
          <a:ln w="12700">
            <a:solidFill>
              <a:srgbClr val="7B4B2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77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smart traders act differently from the crowd?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256032" cy="256032"/>
          </a:xfrm>
          <a:prstGeom prst="ellipse">
            <a:avLst/>
          </a:prstGeom>
          <a:solidFill>
            <a:srgbClr val="7B4B2A"/>
          </a:solidFill>
          <a:ln w="12700">
            <a:solidFill>
              <a:srgbClr val="7B4B2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79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343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sentiment be used as a trading signal?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0" y="731520"/>
            <a:ext cx="3200400" cy="4023360"/>
          </a:xfrm>
          <a:prstGeom prst="rect">
            <a:avLst/>
          </a:prstGeom>
          <a:solidFill>
            <a:srgbClr val="7B4B2A">
              <a:alpha val="80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280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26.54%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548640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traders show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 behavior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Fear markets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943600" y="3337560"/>
            <a:ext cx="2286000" cy="45720"/>
          </a:xfrm>
          <a:prstGeom prst="rect">
            <a:avLst/>
          </a:prstGeom>
          <a:solidFill>
            <a:srgbClr val="F5E6D3">
              <a:alpha val="5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211,218 trades analysed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479 sentiment days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6D3">
              <a:alpha val="4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solidFill>
            <a:srgbClr val="7B4B2A"/>
          </a:solidFill>
          <a:ln w="12700">
            <a:solidFill>
              <a:srgbClr val="7B4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DATASETS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1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Looks Like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3108960"/>
          </a:xfrm>
          <a:prstGeom prst="rect">
            <a:avLst/>
          </a:prstGeom>
          <a:solidFill>
            <a:srgbClr val="7B4B2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Fear &amp; Greed Index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3291840" cy="27432"/>
          </a:xfrm>
          <a:prstGeom prst="rect">
            <a:avLst/>
          </a:prstGeom>
          <a:solidFill>
            <a:srgbClr val="F5E6D3">
              <a:alpha val="5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2,645 daily readings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Feb 2018 → May 2025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Score: 0–100 daily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5 categories: Extreme Fear → Extreme Greed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3840480" cy="3108960"/>
          </a:xfrm>
          <a:prstGeom prst="rect">
            <a:avLst/>
          </a:prstGeom>
          <a:solidFill>
            <a:srgbClr val="3E1F0A">
              <a:alpha val="85000"/>
            </a:srgbClr>
          </a:solidFill>
          <a:ln w="12700">
            <a:solidFill>
              <a:srgbClr val="3E1F0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Hyperliquid Trades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20640" y="2194560"/>
            <a:ext cx="3291840" cy="27432"/>
          </a:xfrm>
          <a:prstGeom prst="rect">
            <a:avLst/>
          </a:prstGeom>
          <a:solidFill>
            <a:srgbClr val="F5E6D3">
              <a:alpha val="5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211,224 real on-chain trades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834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May 2023 → May 2025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3337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246 unique coins traded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840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Includes PnL, Size, Side, Fee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0" y="4663440"/>
            <a:ext cx="4572000" cy="365760"/>
          </a:xfrm>
          <a:prstGeom prst="rect">
            <a:avLst/>
          </a:prstGeom>
          <a:solidFill>
            <a:srgbClr val="7B4B2A"/>
          </a:solidFill>
          <a:ln w="12700">
            <a:solidFill>
              <a:srgbClr val="7B4B2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on Date  →  211,218 sentiment-tagged trades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6D3">
              <a:alpha val="4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solidFill>
            <a:srgbClr val="7B4B2A"/>
          </a:solidFill>
          <a:ln w="12700">
            <a:solidFill>
              <a:srgbClr val="7B4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KEY FINDINGS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1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Revealed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560320" cy="1554480"/>
          </a:xfrm>
          <a:prstGeom prst="rect">
            <a:avLst/>
          </a:prstGeom>
          <a:solidFill>
            <a:srgbClr val="7B4B2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00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Greed Win Rate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1828800" cy="27432"/>
          </a:xfrm>
          <a:prstGeom prst="rect">
            <a:avLst/>
          </a:prstGeom>
          <a:solidFill>
            <a:srgbClr val="F5E6D3">
              <a:alpha val="4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420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strategies thrive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market is euphoric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560320" cy="1554480"/>
          </a:xfrm>
          <a:prstGeom prst="rect">
            <a:avLst/>
          </a:prstGeom>
          <a:solidFill>
            <a:srgbClr val="7B4B2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600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2148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Trades in Fear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66160" y="2468880"/>
            <a:ext cx="1828800" cy="27432"/>
          </a:xfrm>
          <a:prstGeom prst="rect">
            <a:avLst/>
          </a:prstGeom>
          <a:solidFill>
            <a:srgbClr val="F5E6D3">
              <a:alpha val="4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5420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bet larger when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are uncertain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560320" cy="1554480"/>
          </a:xfrm>
          <a:prstGeom prst="rect">
            <a:avLst/>
          </a:prstGeom>
          <a:solidFill>
            <a:srgbClr val="7B4B2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1600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$2.1M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35040" y="2148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Contrarian PnL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468880"/>
            <a:ext cx="1828800" cy="27432"/>
          </a:xfrm>
          <a:prstGeom prst="rect">
            <a:avLst/>
          </a:prstGeom>
          <a:solidFill>
            <a:srgbClr val="F5E6D3">
              <a:alpha val="4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5420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money buys panic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exits on recovery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2560320" cy="1554480"/>
          </a:xfrm>
          <a:prstGeom prst="rect">
            <a:avLst/>
          </a:prstGeom>
          <a:solidFill>
            <a:srgbClr val="3E1F0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429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65760" y="3977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 Coin Dominance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297680"/>
            <a:ext cx="1828800" cy="27432"/>
          </a:xfrm>
          <a:prstGeom prst="rect">
            <a:avLst/>
          </a:prstGeom>
          <a:solidFill>
            <a:srgbClr val="F5E6D3">
              <a:alpha val="4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3708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traded &amp; profitable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sentiment conditions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291840"/>
            <a:ext cx="2560320" cy="1554480"/>
          </a:xfrm>
          <a:prstGeom prst="rect">
            <a:avLst/>
          </a:prstGeom>
          <a:solidFill>
            <a:srgbClr val="3E1F0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0" y="3429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0.16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200400" y="3977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Correlation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66160" y="4297680"/>
            <a:ext cx="1828800" cy="27432"/>
          </a:xfrm>
          <a:prstGeom prst="rect">
            <a:avLst/>
          </a:prstGeom>
          <a:solidFill>
            <a:srgbClr val="F5E6D3">
              <a:alpha val="4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43708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F&amp;G weakly but significantly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trade outcomes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6D3">
              <a:alpha val="4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solidFill>
            <a:srgbClr val="7B4B2A"/>
          </a:solidFill>
          <a:ln w="12700">
            <a:solidFill>
              <a:srgbClr val="7B4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WIN RATE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E1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Rate by Market Sentiment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371600"/>
          <a:ext cx="7772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6D3">
              <a:alpha val="4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solidFill>
            <a:srgbClr val="7B4B2A"/>
          </a:solidFill>
          <a:ln w="12700">
            <a:solidFill>
              <a:srgbClr val="7B4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BEHAVIOR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1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Fear = Largest Trades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371600"/>
            <a:ext cx="2926080" cy="1005840"/>
          </a:xfrm>
          <a:prstGeom prst="rect">
            <a:avLst/>
          </a:prstGeom>
          <a:solidFill>
            <a:srgbClr val="7B4B2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141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2.5×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67512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trades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Fear vs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Greed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560320"/>
            <a:ext cx="2926080" cy="1005840"/>
          </a:xfrm>
          <a:prstGeom prst="rect">
            <a:avLst/>
          </a:prstGeom>
          <a:solidFill>
            <a:srgbClr val="7B4B2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675120" y="26517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orders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Extreme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— dip buying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60720" y="3749040"/>
            <a:ext cx="2926080" cy="1005840"/>
          </a:xfrm>
          <a:prstGeom prst="rect">
            <a:avLst/>
          </a:prstGeom>
          <a:solidFill>
            <a:srgbClr val="7B4B2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3794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675120" y="3840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orders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Extreme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 — profit taking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6D3">
              <a:alpha val="4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solidFill>
            <a:srgbClr val="7B4B2A"/>
          </a:solidFill>
          <a:ln w="12700">
            <a:solidFill>
              <a:srgbClr val="7B4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CONTRARIAN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1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Money Trades Against the Crowd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5603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Account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1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Fear PnL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1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Trades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1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Win Rate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1F0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0xae5e...ed23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9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$2,143,383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9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9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9C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0x0833...012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$1,600,230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0xbaaa...864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9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$940,164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9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21,192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9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9C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0x513b...f11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$840,423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0xbee1...aab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9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$836,081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9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40,184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9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A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9C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7B4B2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These traders buy during Fear/Extreme Fear and exit when sentiment recovers — generating outsized returns against the crowd.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6D3">
              <a:alpha val="4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solidFill>
            <a:srgbClr val="7B4B2A"/>
          </a:solidFill>
          <a:ln w="12700">
            <a:solidFill>
              <a:srgbClr val="7B4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ML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E1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Trade Outcomes with ML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474720" cy="2560320"/>
          </a:xfrm>
          <a:prstGeom prst="rect">
            <a:avLst/>
          </a:prstGeom>
          <a:solidFill>
            <a:srgbClr val="3E1F0A">
              <a:alpha val="7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08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83.20%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0.5838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3474720" cy="2560320"/>
          </a:xfrm>
          <a:prstGeom prst="rect">
            <a:avLst/>
          </a:prstGeom>
          <a:solidFill>
            <a:srgbClr val="7B4B2A">
              <a:alpha val="90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508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 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194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87.76%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4632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0.8597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Feature: Sentiment Value (F&amp;G Index) = 15.9% importance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7B4B2A">
              <a:alpha val="80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988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Market sentiment is a statistically meaningful predictor of trade profitability.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6D3">
              <a:alpha val="4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solidFill>
            <a:srgbClr val="7B4B2A"/>
          </a:solidFill>
          <a:ln w="12700">
            <a:solidFill>
              <a:srgbClr val="7B4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PLAYBOOK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1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Strategies to Trade Smarter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1554480"/>
          </a:xfrm>
          <a:prstGeom prst="rect">
            <a:avLst/>
          </a:prstGeom>
          <a:solidFill>
            <a:srgbClr val="7B4B2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rgbClr val="F5E6D3"/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1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276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Incentivize Long-Term Positions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Greed traders use smaller sizes. Encourage scaling into positions early for bigger returns.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4114800" cy="1554480"/>
          </a:xfrm>
          <a:prstGeom prst="rect">
            <a:avLst/>
          </a:prstGeom>
          <a:solidFill>
            <a:srgbClr val="3E1F0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1645920"/>
            <a:ext cx="411480" cy="411480"/>
          </a:xfrm>
          <a:prstGeom prst="ellipse">
            <a:avLst/>
          </a:prstGeom>
          <a:solidFill>
            <a:srgbClr val="F5E6D3"/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1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2120" y="16276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Trader Onboarding in Fear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1488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trades during Fear show highest size but low experience. Guided entry strategies reduce losses.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114800" cy="1554480"/>
          </a:xfrm>
          <a:prstGeom prst="rect">
            <a:avLst/>
          </a:prstGeom>
          <a:solidFill>
            <a:srgbClr val="7B4B2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rgbClr val="F5E6D3"/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1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36499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Fiber Optic of HYPE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 at 32% of trades — track it closely. Its sentiment-agnostic profitability makes it a core asset.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200400"/>
            <a:ext cx="4114800" cy="1554480"/>
          </a:xfrm>
          <a:prstGeom prst="rect">
            <a:avLst/>
          </a:prstGeom>
          <a:solidFill>
            <a:srgbClr val="3E1F0A">
              <a:alpha val="85000"/>
            </a:srgbClr>
          </a:solidFill>
          <a:ln w="12700">
            <a:solidFill>
              <a:srgbClr val="7B4B2A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3383280"/>
            <a:ext cx="411480" cy="411480"/>
          </a:xfrm>
          <a:prstGeom prst="ellipse">
            <a:avLst/>
          </a:prstGeom>
          <a:solidFill>
            <a:srgbClr val="F5E6D3"/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1F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336499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Promote Contrarian Signals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38862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Fear-day buying patterns early. Alert high-conviction traders to accumulate during panic.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E1F0A">
              <a:alpha val="55000"/>
            </a:srgbClr>
          </a:solidFill>
          <a:ln w="12700">
            <a:solidFill>
              <a:srgbClr val="3E1F0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start with understanding market psychology.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2240280"/>
            <a:ext cx="3657600" cy="45720"/>
          </a:xfrm>
          <a:prstGeom prst="rect">
            <a:avLst/>
          </a:prstGeom>
          <a:solidFill>
            <a:srgbClr val="F5E6D3">
              <a:alpha val="60000"/>
            </a:srgbClr>
          </a:solidFill>
          <a:ln w="12700">
            <a:solidFill>
              <a:srgbClr val="F5E6D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23160"/>
            <a:ext cx="1645920" cy="1097280"/>
          </a:xfrm>
          <a:prstGeom prst="rect">
            <a:avLst/>
          </a:prstGeom>
          <a:solidFill>
            <a:srgbClr val="7B4B2A">
              <a:alpha val="80000"/>
            </a:srgbClr>
          </a:solidFill>
          <a:ln w="12700">
            <a:solidFill>
              <a:srgbClr val="F5E6D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49631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2423160"/>
            <a:ext cx="1645920" cy="1097280"/>
          </a:xfrm>
          <a:prstGeom prst="rect">
            <a:avLst/>
          </a:prstGeom>
          <a:solidFill>
            <a:srgbClr val="7B4B2A">
              <a:alpha val="80000"/>
            </a:srgbClr>
          </a:solidFill>
          <a:ln w="12700">
            <a:solidFill>
              <a:srgbClr val="F5E6D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249631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10.25M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PnL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1645920" cy="1097280"/>
          </a:xfrm>
          <a:prstGeom prst="rect">
            <a:avLst/>
          </a:prstGeom>
          <a:solidFill>
            <a:srgbClr val="7B4B2A">
              <a:alpha val="80000"/>
            </a:srgbClr>
          </a:solidFill>
          <a:ln w="12700">
            <a:solidFill>
              <a:srgbClr val="F5E6D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249631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87.76%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Accuracy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2423160"/>
            <a:ext cx="1645920" cy="1097280"/>
          </a:xfrm>
          <a:prstGeom prst="rect">
            <a:avLst/>
          </a:prstGeom>
          <a:solidFill>
            <a:srgbClr val="7B4B2A">
              <a:alpha val="80000"/>
            </a:srgbClr>
          </a:solidFill>
          <a:ln w="12700">
            <a:solidFill>
              <a:srgbClr val="F5E6D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3E1F0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249631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Nandini Saxena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&amp; Engineering  ·  Data Analytics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linkedin.com/in/nandini-saxena-codes  ·  nandinisaxena.netlify.app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Trader Sentiment Analysis Playbook</dc:title>
  <dc:subject>PptxGenJS Presentation</dc:subject>
  <dc:creator>Nandini Saxena</dc:creator>
  <cp:lastModifiedBy>Nandini Saxena</cp:lastModifiedBy>
  <cp:revision>1</cp:revision>
  <dcterms:created xsi:type="dcterms:W3CDTF">2026-03-29T06:33:09Z</dcterms:created>
  <dcterms:modified xsi:type="dcterms:W3CDTF">2026-03-29T06:33:09Z</dcterms:modified>
</cp:coreProperties>
</file>